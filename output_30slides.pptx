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2E2B21"/>
                </a:solidFill>
              </a:rPr>
              <a:t>Major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2E2B21"/>
                </a:solidFill>
              </a:rPr>
              <a:t>Adversarial Attack Detection in Zero-Trust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3931920"/>
            <a:ext cx="5852160" cy="26517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2E2B21"/>
                </a:solidFill>
              </a:rPr>
              <a:t>Batch ID: </a:t>
            </a:r>
            <a:r>
              <a:rPr sz="1300" b="0">
                <a:solidFill>
                  <a:srgbClr val="2E2B21"/>
                </a:solidFill>
              </a:rPr>
              <a:t>BT26CYSA011</a:t>
            </a:r>
          </a:p>
          <a:p>
            <a:pPr marL="0" indent="0" algn="l">
              <a:buNone/>
            </a:pPr>
            <a:r>
              <a:rPr sz="600" b="0">
                <a:solidFill>
                  <a:srgbClr val="2E2B21"/>
                </a:solidFill>
              </a:rPr>
              <a:t> </a:t>
            </a:r>
          </a:p>
          <a:p>
            <a:pPr marL="0" indent="0" algn="l">
              <a:buNone/>
            </a:pPr>
            <a:r>
              <a:rPr sz="1300" b="0">
                <a:solidFill>
                  <a:srgbClr val="666666"/>
                </a:solidFill>
              </a:rPr>
              <a:t>Reg. No: RA2211030030015</a:t>
            </a:r>
          </a:p>
          <a:p>
            <a:pPr marL="0" indent="0" algn="l">
              <a:buNone/>
            </a:pPr>
            <a:r>
              <a:rPr sz="1300" b="1">
                <a:solidFill>
                  <a:srgbClr val="2E2B21"/>
                </a:solidFill>
              </a:rPr>
              <a:t>Name: Chinmay Maheswari</a:t>
            </a:r>
          </a:p>
          <a:p>
            <a:pPr marL="0" indent="0" algn="l">
              <a:buNone/>
            </a:pPr>
            <a:r>
              <a:rPr sz="1300" b="0">
                <a:solidFill>
                  <a:srgbClr val="666666"/>
                </a:solidFill>
              </a:rPr>
              <a:t>Reg. No: RA2211030030019</a:t>
            </a:r>
          </a:p>
          <a:p>
            <a:pPr marL="0" indent="0" algn="l">
              <a:buNone/>
            </a:pPr>
            <a:r>
              <a:rPr sz="1300" b="1">
                <a:solidFill>
                  <a:srgbClr val="2E2B21"/>
                </a:solidFill>
              </a:rPr>
              <a:t>Name: Aarnav Singh</a:t>
            </a:r>
          </a:p>
          <a:p>
            <a:pPr marL="0" indent="0" algn="l">
              <a:buNone/>
            </a:pPr>
            <a:r>
              <a:rPr sz="1300" b="0">
                <a:solidFill>
                  <a:srgbClr val="666666"/>
                </a:solidFill>
              </a:rPr>
              <a:t>Reg. No: RA2211030030041</a:t>
            </a:r>
          </a:p>
          <a:p>
            <a:pPr marL="0" indent="0" algn="l">
              <a:buNone/>
            </a:pPr>
            <a:r>
              <a:rPr sz="1300" b="1">
                <a:solidFill>
                  <a:srgbClr val="2E2B21"/>
                </a:solidFill>
              </a:rPr>
              <a:t>Name: Vaastav Vardhan</a:t>
            </a:r>
          </a:p>
          <a:p>
            <a:pPr marL="0" indent="0" algn="l">
              <a:buNone/>
            </a:pPr>
            <a:r>
              <a:rPr sz="1300" b="0">
                <a:solidFill>
                  <a:srgbClr val="666666"/>
                </a:solidFill>
              </a:rPr>
              <a:t>Reg. No: RA2211030030026</a:t>
            </a:r>
          </a:p>
          <a:p>
            <a:pPr marL="0" indent="0" algn="l">
              <a:buNone/>
            </a:pPr>
            <a:r>
              <a:rPr sz="1300" b="1">
                <a:solidFill>
                  <a:srgbClr val="2E2B21"/>
                </a:solidFill>
              </a:rPr>
              <a:t>Name: Krishna Maheswari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3474720" cy="182880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1400" b="0">
                <a:solidFill>
                  <a:srgbClr val="2E2B21"/>
                </a:solidFill>
              </a:rPr>
              <a:t>Guide name: Dr. Arnika Jain</a:t>
            </a:r>
          </a:p>
          <a:p>
            <a:pPr marL="0" indent="0" algn="l">
              <a:buNone/>
            </a:pPr>
            <a:r>
              <a:rPr sz="1400" b="0">
                <a:solidFill>
                  <a:srgbClr val="2E2B21"/>
                </a:solidFill>
              </a:rPr>
              <a:t> </a:t>
            </a:r>
          </a:p>
          <a:p>
            <a:pPr marL="0" indent="0" algn="l">
              <a:buNone/>
            </a:pPr>
            <a:r>
              <a:rPr sz="1400" b="0">
                <a:solidFill>
                  <a:srgbClr val="2E2B21"/>
                </a:solidFill>
              </a:rPr>
              <a:t>Designation: Associate Professor</a:t>
            </a:r>
          </a:p>
          <a:p>
            <a:pPr marL="0" indent="0" algn="l">
              <a:buNone/>
            </a:pPr>
            <a:r>
              <a:rPr sz="1400" b="0">
                <a:solidFill>
                  <a:srgbClr val="2E2B21"/>
                </a:solidFill>
              </a:rPr>
              <a:t> </a:t>
            </a:r>
          </a:p>
          <a:p>
            <a:pPr marL="0" indent="0" algn="l">
              <a:buNone/>
            </a:pPr>
            <a:r>
              <a:rPr sz="1400" b="0">
                <a:solidFill>
                  <a:srgbClr val="2E2B21"/>
                </a:solidFill>
              </a:rPr>
              <a:t>Department: CSE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PROJECT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OVERVIEW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Background: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ML-based Network Intrusion Detection Systems (NIDS) are widely deployed for automated threat detection.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Real-World Problem Addressed: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FGSM and PGD adversarial perturbations can evade ML-only defenses, causing false negatives.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Motivation: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Determine whether a Zero-Trust contextual policy layer can intercept adversarially-evaded traffic.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Application Domain: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Network Security Research  ·  Adversarial Machine Learning  ·  Zero-Trust Architecture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PROBLEM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STATEMENT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Core Issue: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ML models are susceptible to adversarial examples that evade intrusion detection.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Gaps in Existing Solutions: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Existing research focuses exclusively on ML evasion without evaluating system-level defenses.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Attackers can manipulate network flow features to suppress the ML risk score.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No prior work validates whether Zero-Trust policy compensates for ML failures.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Research Question: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Can a context-aware Zero-Trust policy engine achieve 0% adversarial bypass at system level?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PROJECT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OBJECTIVES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Main Goal: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Design and empirically evaluate a Zero-Trust network security system against adversarial ML attacks.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Specific Objectives: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1.  Train a Neural Network (NN) classifier on the NSL-KDD benchmark dataset.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2.  Generate domain-constrained FGSM and PGD adversarial attacks.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3.  Evaluate context-aware Zero-Trust policy under full adversarial pressure.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4.  Achieve 0% effective system-level adversarial bypass rate.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5.  Produce a reproducible, open-source research artefact with SOC telemetry.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LITERATURE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REVIEW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(1/2)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Key Research Papers: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[1] Goodfellow et al. (2015) – FGSM: "Explaining and Harnessing Adversarial Examples".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[2] Madry et al. (2018) – PGD-AT: "Deep Learning Models Resistant to Adversarial Attacks".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[3] Carlini &amp; Wagner (2017) – C&amp;W Attack: "Evaluating the Robustness of Neural Networks".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[4] Sharafaldin et al. (2018) – "Toward Generating a New Intrusion Detection Dataset".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[5] Zhang et al. (2020) – "Adversarial Machine Learning in Network Intrusion Detection".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Key Gap Identified: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No study evaluates whether system-level Zero-Trust policies can compensate for ML evasion.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LITERATURE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REVIEW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(2/2)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Additional References: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[6] NIST SP 800-207 (2020) – "Zero Trust Architecture" (formal ZTA principles).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[7] Rose et al. (2021) – "Zero Trust Networks" (contextual policy design).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[8] Biggio &amp; Roli (2018) – "Wild Patterns: 10 Years After the Rise of Adversarial ML".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[9] Papernot et al. (2016) – "The Limitations of Deep Learning in Adversarial Settings".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[10] Wang et al. (2019) – "Contextual Access Control for Resilient Network Security".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Identified Gap → This Project: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Combining adversarial ML evaluation with a multi-signal Zero-Trust enforcement layer.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EXISTING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SYSTEM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Existing Defense Tactics: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Over-reliance on ML risk scores for network access control decisions.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Deployment of Adversarial Training (TRADES / PGD-AT) at the ML layer only.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Examples of Existing Systems: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Traditional rule-based IDS (Snort, Suricata) – signature-dependent, no ML.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ML-only classifiers (Random Forest, DNN) – no contextual enrichment layer.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Limitations: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Adversarial training evaluates at model-level, not system-level.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Single-channel defenses are bypassed by feature-space perturbation.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No Zero-Trust policy engine integration in existing NIDS research pipelines.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PROPOSED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SYSTEM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Proposed Zero-Trust Context-Aware Architecture: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Key Features: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Multi-layer pipeline: Pre-processing → ML Classifier → Zero-Trust Engine.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Context enrichment: User Identity, Device Trust, Geo-Risk, Time-of-Day.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Domain-constrained FGSM &amp; PGD adversarial attack generation.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Real-time SOC telemetry with structured JSON audit trail.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Advantages over Existing: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Dimensional orthogonality thwarts single-channel adversarial evasion.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System-level robustness without ML retraining penalty.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Formal defense-in-depth with guaranteed independence properties.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SYSTEM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ARCHITECTURE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Architecture Pipeline (Top → Bottom):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 Network Flow ]       NSL-KDD dataset — 41 features per connection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         ↓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 ML Risk Classifier ] Dense Neural Network · BCE Loss · Adam optimizer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         ↓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 Context Enrichment ] Identity · Device Trust · Geo-Risk · Time-of-Day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         ↓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 Zero-Trust Policy ]  8 priority-ordered enforcement rules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         ↓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 Decision ]           ALLOW / DENY / STEP_UP_AUTH / RATE_LIMIT / ISOLATE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         ↓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 SOC Telemetry ]      Structured JSON audit trail · Streamlit dashboard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METHODOLOGY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Step-by-Step Workflow: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Step 1:  NSL-KDD Dataset Collection  (Train: 125,973 · Test: 22,544 samples)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Step 2:  Feature pre-processing — Standard Scaler normalization, binary encoding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Step 3:  Dense Neural Network training  (Adam optimizer · Binary Cross-Entropy Loss)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Step 4:  White-box threat model construction targeting NIDS ML feature space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Step 5:  FGSM &amp; PGD adversarial examples generated with L∞ domain constraints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Step 6:  Context enrichment — Device Trust, Geo-Risk, Identity, Time-of-Day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Step 7:  Zero-Trust Policy Engine applies 8 tiered rules → access decision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Step 8:  Statistical evaluation — p-value, Cohen’s d, epsilon sweep analysis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TOOLS &amp;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TECHNOLOGIES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Programming Language: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Python 3.10 (fully reproducible, fixed random seeds across 5 runs)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Core Libraries: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PyTorch 2.0.1  ·  Scikit-learn 1.3  ·  NumPy 1.24  ·  Pandas 2.0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Visualization &amp; Dashboard: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Streamlit 1.28  (real-time SOC dashboard)  ·  Matplotlib  ·  Seaborn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Dataset: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NSL-KDD Benchmark Dataset  (University of New Brunswick)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Development Environment: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Local CPU  ·  Reproducible via fixed random state  ·  Git version control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MODULES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IMPLEMENTED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(1/2)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Data Processing Module: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NSL-KDD loader, Standard Scaler normalization, binary label encoder.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ML Classifier Module: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PyTorch Dense Neural Network — training, validation, and inference pipeline.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Binary Cross-Entropy Loss · Adam optimizer · Dropout regularization.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Adversarial Attack Module: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FGSM generator with domain-valid L∞ clipping constraints.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PGD generator with iterative step refinement and integer-type preservation.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Ensures no negative packet counts or invalid protocol field values.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MODULES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IMPLEMENTED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(2/2)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Zero-Trust Policy Engine: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8-rule priority engine: Identity, Device Trust, Geo-Risk, Time-of-Day.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Decisions: ALLOW / DENY / STEP_UP_AUTH / RATE_LIMIT / ISOLATE.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SOC Telemetry Module: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Structured JSON audit trail capturing all policy decisions and context signals.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Real-time Streamlit dashboard with live event streaming.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Result Visualization Module: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Epsilon-sweep charts, ROC curves, ablation study plots, training loss curves.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Comparative performance tables: clean vs. adversarial across ML and ZT layers.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ALGORITHM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&amp; MODEL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USED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ML Model — Dense Neural Network: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Input: 41 NSL-KDD features → Hidden: [256, 128, 64] → Output: 1 (sigmoid)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Loss: Binary Cross-Entropy  ·  Optimizer: Adam (lr=1e-3)  ·  Dropout: 0.3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FGSM Attack (Fast Gradient Sign Method):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x_adv = x + ε · sign(∇ₓ J(θ, x, y))     where ε = 0.05 (L∞ constraint)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PGD Attack (Projected Gradient Descent):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x_{t+1} = Πₛ(x_t + α · sign(∇ₓ J(θ, x_t, y)))   (20 iterations, α = ε/10)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Zero-Trust Policy — 8-Rule Priority Engine: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Rule 1: Block known malicious IPs  →  Rule 8: Default allow with audit log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DATASET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DESCRIPTION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Dataset Source: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NSL-KDD — Improved version of KDD Cup 99  (University of New Brunswick)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Data Scale: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Training set: 125,973 samples  ·  Test set: 22,544 samples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Features (41 total):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Protocol type, duration, src/dst bytes, service flags, packet counts,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error rates, land, wrong fragment, urgent, hot, login counts, etc.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Data Preparation Steps: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1.  Categorical encoding (protocol_type, service, flag → integer).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2.  Feature normalization via Standard Scaler (zero mean, unit variance).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3.  Binary mapping: Normal (0) vs. Attack (1).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IMPLEMENTATION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SCREENS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Streamlit SOC Dashboard: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Real-time display of ML risk scores and Zero-Trust policy decisions per flow.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Live event log: ALLOW / DENY / STEP_UP_AUTH / RATE_LIMIT / ISOLATE events.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Adversarial Attack Visualization: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Epsilon-sweep bar charts showing evasion rates vs. ML and ZT layers.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Attack success drop-off plot demonstrating ZT policy interception.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Training Pipeline Output: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Loss/accuracy curves per epoch, validation metrics, confusion matrix.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Per-seed reproducibility logs confirming stable multi-run results.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SYSTEM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DEMO /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WORKING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MODEL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End-to-End Demo Flow: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1.  Load NSL-KDD test data → Pre-process → run ML classifier → get risk score.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2.  Apply FGSM/PGD perturbation → observe adversarial evasion of ML layer.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3.  Feed adversarial traffic into Zero-Trust engine with random context signals.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4.  Observe DENY / ISOLATE decisions intercepting adversarially evaded packets.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5.  Verify 0.0% bypass rate in audit log — all adversarial flows terminated.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Live Dashboard Evidence: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JSON audit trail shows context signals (device_trust, geo_risk, identity)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and the specific policy rule triggered for each access decision.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EXPERIMENTAL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RESULTS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(1/2)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Baseline ML Classifier Performance (Clean Data):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Accuracy:   78.5% ± 0.8%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Precision:  97.2% ± 0.4%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Recall:     64.1% ± 1.1%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F1-Score:   77.4% ± 0.7%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Adversarial Evasion Rates (ε = 0.05):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FGSM successful evasion against ML layer: 20.0% ± 1.8%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PGD  successful evasion against ML layer: 25.0% ± 2.1%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Epsilon Sweep (ML Layer Only):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ε = 0.01: FGSM 8.3%     ε = 0.05: FGSM 20.0%     ε = 0.10: FGSM 34.7%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EXPERIMENTAL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RESULTS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(2/2)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Zero-Trust System Defense Outcome: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Final system bypass rate under Zero-Trust policies: 0.0%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Ablation Study — Context Component Contributions: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Device Trust alone:     61.3% adversarial deny rate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Geo-Risk alone:         54.7% adversarial deny rate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Identity alone:         47.2% adversarial deny rate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Time-of-Day alone:      38.9% adversarial deny rate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All components (full):  100.0% deny rate  →  0.0% system bypass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Statistical Significance: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p-value &lt; 0.001  ·  Cohen’s d = 4.0  (Very Large effect size)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RESULTS &amp;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DISCUSSION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Key Observations: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Contextual enrichment is the primary driver of adversarial robustness.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Dimensional orthogonality makes ML feature-space manipulation redundant.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Full system outperforms ML-only baseline across all adversarial pressure levels.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Improvement Over Existing Systems: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ML-only system bypass rate:       20–25% (at ε = 0.05)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Proposed ZT system bypass rate:   0.0% at all tested ε values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Comparison Table: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Method              Accuracy    Bypass Rate    Notes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ML-only DNN         78.5%       20.0–25.0%     No context layer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Proposed ZT-System  78.5%       0.0%           Requires context signals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STATISTICAL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ANALYSIS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Hypothesis Testing: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H₀: Zero-Trust provides no improvement over ML-only defense.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H₁: Zero-Trust significantly reduces adversarial bypass rate.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Result: p &lt; 0.001 → Reject H₀ with very high confidence.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Effect Size (Cohen’s d):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 = 4.0 — classified as Very Large (threshold: d &gt; 0.8 = "large").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Bypass rate drops from ~22.5% → 0.0% (practically significant).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Reproducibility: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Experiments conducted over 5 random seeds: 42, 123, 456, 789, 1024.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Standard deviations reported alongside all mean metrics.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All code and data openly available for full verification.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INNOVATION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&amp;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CONTRIBUTION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What’s New: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First study to empirically prove Zero-Trust achieves 0% adversarial bypass.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Domain-constrained adversarial generation ensuring network-valid perturbations.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Unique Features: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Multi-signal context enrichment (4 orthogonal channels) for ZT enforcement.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Reproducible open-source pipeline with full SOC telemetry integration.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Individual Research Contributions: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Chinmay Maheswari  — ML classifier training, adversarial attack implementation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Aarnav Singh       — Zero-Trust policy engine design, SOC telemetry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Vaastav Vardhan    — Dataset pipeline, statistical analysis, epsilon sweep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Krishna Maheswari  — System architecture, dashboard, documentation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WORK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COMPLETED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SO FAR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Completed Milestones: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Literature Review on ML Evasion and Zero-Trust Architecture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NSL-KDD Dataset Collection and Pre-processing Pipeline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System Architecture Design and component integration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ML Model Training and Validation (5-seed reproducibility)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Domain-Constrained FGSM and PGD Attack Implementation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Zero-Trust Policy Engine (8-rule priority system)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Full adversarial evaluation — 0.0% system bypass confirmed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SOC Telemetry and real-time Streamlit Dashboard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Statistical analysis (p-value, Cohen’s d, ablation study)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✓  Research manuscript prepared and finalized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PUBLICATION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STATUS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Paper Title: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Adversarial Attack Detection in Zero-Trust Network Security Systems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Authors: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Chinmay Maheswari, Aarnav Singh, Vaastav Vardhan, Krishna Maheswari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(Guided by: Dr. Arnika Jain, SRM IST)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Current Status: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Manuscript fully prepared and finalized.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Ready for target journal / conference submission.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Submission / Acceptance Proof: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To be attached after submission — currently in final review phase.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RESEARCH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PAPER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DETAILS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Paper Title: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Adversarial Attack Detection in Zero-Trust Network Security Systems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Authors: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Chinmay Maheswari, Aarnav Singh, Vaastav Vardhan, Krishna Maheswari, Dr. Arnika Jain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Target Venue: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IEEE Transactions on Dependable and Secure Computing  (Scopus / WoS indexed)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Key Contribution: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First empirical proof that a multi-signal Zero-Trust policy eliminates adversarial bypass.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Indexing Target: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Scopus  ·  Web of Science  ·  IEEE Xplore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LIMITATIONS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&amp; CHALLENGES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FACED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Limitations of Current System: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Context signals are simulated — no real Identity Provider / MDM integration yet.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Validated only on NSL-KDD; needs extension to CICIDS-2017, UNSW-NB15.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Carlini-Wagner (C&amp;W) attack not yet evaluated in current scope.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Challenges Faced: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Ensuring FGSM/PGD perturbations are domain-valid (no negative packet counts).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High computational time during iterative PGD attack runs on full test set.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Tuning detection threshold to minimize false positives while maintaining recall.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Handling class imbalance across NSL-KDD attack sub-categories.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APPLICATIONS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System Deployment / Real-Time Usage: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Enterprise SOC for real-time network intrusion detection and policy enforcement.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Cloud-native zero-trust perimeter with ML risk scoring integration.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Integration Options: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REST API microservice — integrates with SIEM platforms (Splunk, Microsoft Sentinel).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Docker-containerized deployment for cloud / on-premise scalable rollout.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Industry Use Cases: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Financial services — transaction anomaly detection under adversarial pressure.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Critical infrastructure — power grid / healthcare network access control.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Government / Defence — secure enclave access with contextual enforcement.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CONCLUSION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&amp; FUTURE</a:t>
            </a:r>
          </a:p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WORK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Conclusion: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Developed an AI system evaluating context-aware Zero-Trust policies against adversarial ML.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Empirically validated: Zero-Trust completely negates feature-space adversarial manipulation.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Defense is system-wide with no ML retraining penalty (p &lt; 0.001, Cohen’s d = 4.0).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/>
            </a:r>
          </a:p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Future Work: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Evaluate Carlini-Wagner (C&amp;W) and black-box transfer attacks.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Integrate real Identity Provider (OAuth2/SAML) and MDM device attestation.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Extend validation to CICIDS-2017, UNSW-NB15, CIC-IDS-2023 datasets.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Incorporate UEBA (User &amp; Entity Behavior Analytics) for anomaly enrichment.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• Deploy as production microservice with Kubernetes autoscaling support.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361188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4400" b="1">
                <a:solidFill>
                  <a:srgbClr val="2E2B21"/>
                </a:solidFill>
              </a:rPr>
              <a:t>REFERENCES</a:t>
            </a:r>
          </a:p>
        </p:txBody>
      </p:sp>
      <p:sp>
        <p:nvSpPr>
          <p:cNvPr id="991" name="Divider"/>
          <p:cNvSpPr/>
          <p:nvPr/>
        </p:nvSpPr>
        <p:spPr>
          <a:xfrm>
            <a:off x="4069080" y="914400"/>
            <a:ext cx="0" cy="5303520"/>
          </a:xfrm>
          <a:prstGeom prst="line">
            <a:avLst/>
          </a:prstGeom>
          <a:noFill/>
          <a:ln w="19050">
            <a:solidFill>
              <a:srgbClr val="9CBE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2" name="TextBox 991"/>
          <p:cNvSpPr txBox="1"/>
          <p:nvPr/>
        </p:nvSpPr>
        <p:spPr>
          <a:xfrm>
            <a:off x="4343400" y="777240"/>
            <a:ext cx="7498079" cy="5394960"/>
          </a:xfrm>
          <a:prstGeom prst="rect">
            <a:avLst/>
          </a:prstGeom>
          <a:noFill/>
        </p:spPr>
        <p:txBody>
          <a:bodyPr wrap="square" anchor="top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E2B21"/>
                </a:solidFill>
              </a:rPr>
              <a:t>(IEEE Format)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[1] I. J. Goodfellow et al., "Explaining and Harnessing Adversarial Examples," ICLR 2015.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[2] A. Madry et al., "Towards Deep Learning Models Resistant to Adversarial Attacks," ICLR 2018.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[3] NIST SP 800-207, "Zero Trust Architecture," NIST, Aug. 2020.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[4] N. Carlini and D. Wagner, "Towards Evaluating the Robustness of Neural Networks," IEEE S&amp;P 2017.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[5] I. Sharafaldin et al., "Toward Generating a New Intrusion Detection Dataset," ICISSP 2018.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[6] B. Biggio and F. Roli, "Wild Patterns: 10 Years After the Rise of Adversarial ML," PR 2018.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[7] N. Papernot et al., "The Limitations of Deep Learning in Adversarial Settings," EuroS&amp;P 2016.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[8] S. Rose et al., "Zero Trust Networks," O’Reilly Media, 2nd Ed., 2021.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[9] K. Tavallaee et al., "A Detailed Analysis of the KDD CUP 99 Data Set," CISDA 2009.</a:t>
            </a:r>
          </a:p>
          <a:p>
            <a:pPr marL="0" indent="0" algn="l">
              <a:buNone/>
            </a:pPr>
            <a:r>
              <a:rPr sz="1800" b="0">
                <a:solidFill>
                  <a:srgbClr val="2E2B21"/>
                </a:solidFill>
              </a:rPr>
              <a:t>[10] C. Zhang et al., "Adversarial Machine Learning in Network Intrusion Detection," IEEE 2020.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45720"/>
            <a:ext cx="192024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45720"/>
            <a:ext cx="9646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SRM INSTITUTE OF SCIENCE AND TECHNOLOGY</a:t>
            </a:r>
          </a:p>
          <a:p>
            <a:pPr marL="0" indent="0" algn="ctr">
              <a:buNone/>
            </a:pPr>
            <a:r>
              <a:rPr sz="1600" b="1">
                <a:solidFill>
                  <a:srgbClr val="2E2B21"/>
                </a:solidFill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7200" b="1">
                <a:solidFill>
                  <a:srgbClr val="2E2B2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600" b="0">
                <a:solidFill>
                  <a:srgbClr val="2E2B21"/>
                </a:solidFill>
              </a:rPr>
              <a:t>Chinmay Maheswari  ·  Aarnav Singh  ·  Vaastav Vardhan  ·  Krishna Maheswari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400" b="0">
                <a:solidFill>
                  <a:srgbClr val="666666"/>
                </a:solidFill>
              </a:rPr>
              <a:t>Guide: Dr. Arnika Jain, Associate Professor, Department of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537960"/>
            <a:ext cx="8686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l">
              <a:buNone/>
            </a:pPr>
            <a:r>
              <a:rPr sz="900" b="0">
                <a:solidFill>
                  <a:srgbClr val="888888"/>
                </a:solidFill>
              </a:rPr>
              <a:t>MAJOR PROJECT REVIEW  - </a:t>
            </a:r>
            <a:r>
              <a:rPr sz="900" b="1">
                <a:solidFill>
                  <a:srgbClr val="888888"/>
                </a:solidFill>
              </a:rPr>
              <a:t> 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